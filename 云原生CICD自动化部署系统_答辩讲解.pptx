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FFFF"/>
                </a:solidFill>
                <a:latin typeface="Microsoft YaHei"/>
              </a:defRPr>
            </a:pPr>
            <a:r>
              <a:t>CLOUD NATIVE  |  CI/CD  | 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云原生容器化</a:t>
            </a:r>
            <a:br/>
            <a:r>
              <a:t>CI/CD 自动化部署系统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Microsoft YaHei"/>
              </a:defRPr>
            </a:pPr>
            <a:r>
              <a:t>代码即部署，部署即生效 —— 从代码提交到生产部署的全流程自动化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389120"/>
            <a:ext cx="1371600" cy="36576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FFFF"/>
                </a:solidFill>
                <a:latin typeface="Consolas"/>
              </a:defRPr>
            </a:pPr>
            <a:r>
              <a:t>Go + 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389120"/>
            <a:ext cx="1371600" cy="36576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FFFF"/>
                </a:solidFill>
                <a:latin typeface="Consolas"/>
              </a:defRPr>
            </a:pPr>
            <a:r>
              <a:t>React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4389120"/>
            <a:ext cx="1371600" cy="36576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FFFF"/>
                </a:solidFill>
                <a:latin typeface="Consolas"/>
              </a:defRPr>
            </a:pPr>
            <a:r>
              <a:t>Docker + K8s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389120"/>
            <a:ext cx="1371600" cy="36576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FFFF"/>
                </a:solidFill>
                <a:latin typeface="Consolas"/>
              </a:defRPr>
            </a:pPr>
            <a:r>
              <a:t>Prometheus + Grafana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389120"/>
            <a:ext cx="1371600" cy="36576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FFFF"/>
                </a:solidFill>
                <a:latin typeface="Consolas"/>
              </a:defRPr>
            </a:pPr>
            <a:r>
              <a:t>Harbor + ELK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0"/>
                </a:solidFill>
                <a:latin typeface="Microsoft YaHei"/>
              </a:defRPr>
            </a:pPr>
            <a:r>
              <a:t>答辩讲解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传统部署方式在微服务和云原生时代面临严峻挑战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120640" cy="15087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3366"/>
                </a:solidFill>
                <a:latin typeface="Microsoft YaHei"/>
              </a:defRPr>
            </a:pPr>
            <a:r>
              <a:t>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366"/>
                </a:solidFill>
                <a:latin typeface="Microsoft YaHei"/>
              </a:defRPr>
            </a:pPr>
            <a:r>
              <a:t>环境不一致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开发、测试、生产环境配置差异</a:t>
            </a:r>
            <a:br/>
            <a:r>
              <a:t>导致部署失败率高，排查成本高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5120640" cy="15087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8800"/>
                </a:solidFill>
                <a:latin typeface="Microsoft YaHei"/>
              </a:defRPr>
            </a:pPr>
            <a:r>
              <a:t>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800"/>
                </a:solidFill>
                <a:latin typeface="Microsoft YaHei"/>
              </a:defRPr>
            </a:pPr>
            <a:r>
              <a:t>效率低下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80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人工部署耗时长，发布频率受限</a:t>
            </a:r>
            <a:br/>
            <a:r>
              <a:t>业务迭代速度慢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120640" cy="15087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855F7"/>
                </a:solidFill>
                <a:latin typeface="Microsoft YaHei"/>
              </a:defRPr>
            </a:pPr>
            <a:r>
              <a:t>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Microsoft YaHei"/>
              </a:defRPr>
            </a:pPr>
            <a:r>
              <a:t>故障恢复慢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出现问题后手动回滚耗时长</a:t>
            </a:r>
            <a:br/>
            <a:r>
              <a:t>业务损失扩大，MTTR难以保障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069080"/>
            <a:ext cx="5120640" cy="15087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66FF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  <a:latin typeface="Microsoft YaHei"/>
              </a:defRPr>
            </a:pPr>
            <a:r>
              <a:t>安全隐患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72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依赖冲突、镜像漏洞、权限混乱</a:t>
            </a:r>
            <a:br/>
            <a:r>
              <a:t>缺乏统一安全管控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FF"/>
                </a:solidFill>
                <a:latin typeface="Microsoft YaHei"/>
              </a:defRPr>
            </a:pPr>
            <a:r>
              <a:t>85% 企业因依赖升级导致中断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FF"/>
                </a:solidFill>
                <a:latin typeface="Microsoft YaHei"/>
              </a:defRPr>
            </a:pPr>
            <a:r>
              <a:t>70% 人工干预错误可被自动化消除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FF"/>
                </a:solidFill>
                <a:latin typeface="Microsoft YaHei"/>
              </a:defRPr>
            </a:pPr>
            <a:r>
              <a:t>80%+ 部署时间可被缩短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一套完整的云原生容器化 CI/CD 自动化部署系统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182880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66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  <a:latin typeface="Microsoft YaHei"/>
              </a:defRPr>
            </a:pPr>
            <a:r>
              <a:t>全流程自动化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代码提交→镜像构建→测试验证→自动部署</a:t>
            </a:r>
            <a:br/>
            <a:r>
              <a:t>端到端零人工干预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182880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FFFF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FF"/>
                </a:solidFill>
                <a:latin typeface="Microsoft YaHei"/>
              </a:defRPr>
            </a:pPr>
            <a:r>
              <a:t>多环境支持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开发、测试、生产环境隔离</a:t>
            </a:r>
            <a:br/>
            <a:r>
              <a:t>与统一管理，配置即代码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182880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FF88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Microsoft YaHei"/>
              </a:defRPr>
            </a:pPr>
            <a:r>
              <a:t>高级部署策略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滚动更新、灰度发布、蓝绿部署</a:t>
            </a:r>
            <a:br/>
            <a:r>
              <a:t>支持自动回滚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3383280" cy="182880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8800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800"/>
                </a:solidFill>
                <a:latin typeface="Microsoft YaHei"/>
              </a:defRPr>
            </a:pPr>
            <a:r>
              <a:t>实时监控告警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Prometheus + Grafana</a:t>
            </a:r>
            <a:br/>
            <a:r>
              <a:t>全方位监控，多渠道告警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389120"/>
            <a:ext cx="3383280" cy="182880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855F7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Microsoft YaHei"/>
              </a:defRPr>
            </a:pPr>
            <a:r>
              <a:t>安全管理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镜像漏洞扫描、RBAC权限控制</a:t>
            </a:r>
            <a:br/>
            <a:r>
              <a:t>全量审计日志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389120"/>
            <a:ext cx="3383280" cy="182880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3366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366"/>
                </a:solidFill>
                <a:latin typeface="Microsoft YaHei"/>
              </a:defRPr>
            </a:pPr>
            <a:r>
              <a:t>Web可视化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现代化前端界面，操作简单直观</a:t>
            </a:r>
            <a:br/>
            <a:r>
              <a:t>支持明暗主题切换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三层分层架构：用户界面层 → 应用服务层 → 基础设施层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132588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FF"/>
                </a:solidFill>
                <a:latin typeface="Microsoft YaHei"/>
              </a:defRPr>
            </a:pPr>
            <a:r>
              <a:t>🖥️  用户界面层  UI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3464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React 18 +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83464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Radix UI + Tailwind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83464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Zustand 状态管理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83464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Vite 构建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83464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Recharts 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6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698480" cy="1325880"/>
          </a:xfrm>
          <a:prstGeom prst="roundRect">
            <a:avLst/>
          </a:prstGeom>
          <a:solidFill>
            <a:srgbClr val="160D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Microsoft YaHei"/>
              </a:defRPr>
            </a:pPr>
            <a:r>
              <a:t>⚙️  应用服务层  SERVICE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4340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Go 1.21 + 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434340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GORM + 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34340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JWT 认证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434340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Zap 日志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34340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Viper 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434340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Redis 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55F7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698480" cy="1325880"/>
          </a:xfrm>
          <a:prstGeom prst="roundRect">
            <a:avLst/>
          </a:prstGeom>
          <a:solidFill>
            <a:srgbClr val="0D1E1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Microsoft YaHei"/>
              </a:defRPr>
            </a:pPr>
            <a:r>
              <a:t>🏗️  基础设施层  INFRA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85216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585216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Kubernetes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85216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Harbor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585216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Prometheus + Grafana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585216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ELK Stack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5852160"/>
            <a:ext cx="1554480" cy="32004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0B0C0"/>
                </a:solidFill>
                <a:latin typeface="Microsoft YaHei"/>
              </a:defRPr>
            </a:pPr>
            <a:r>
              <a:t>Vault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从代码提交到生产部署的完整 CI/CD 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📝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代码提交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8600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🔗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Webhook触发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8600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🔨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CI流水线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28600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🐳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镜像构建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🔍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镜像扫描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4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🏛️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推送仓库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74904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☸️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K8s部署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74904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✅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测试验证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74904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🚀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灰度发布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749040"/>
            <a:ext cx="164592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📊</a:t>
            </a:r>
          </a:p>
          <a:p>
            <a:pPr algn="ctr">
              <a:defRPr sz="1200">
                <a:solidFill>
                  <a:srgbClr val="B0B0C0"/>
                </a:solidFill>
                <a:latin typeface="Microsoft YaHei"/>
              </a:defRPr>
            </a:pPr>
            <a:r>
              <a:t>监控告警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3383280" cy="109728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FF"/>
                </a:solidFill>
                <a:latin typeface="Microsoft YaHei"/>
              </a:defRPr>
            </a:pPr>
            <a:r>
              <a:t>⚡ 触发延迟 ≤ 5秒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代码提交后 Webhook 实时触发流水线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3383280" cy="109728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394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FF"/>
                </a:solidFill>
                <a:latin typeface="Microsoft YaHei"/>
              </a:defRPr>
            </a:pPr>
            <a:r>
              <a:t>🔨 构建时间 ≤ 10分钟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多阶段构建 + 缓存优化加速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303520"/>
            <a:ext cx="3383280" cy="109728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394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FF"/>
                </a:solidFill>
                <a:latin typeface="Microsoft YaHei"/>
              </a:defRPr>
            </a:pPr>
            <a:r>
              <a:t>🚀 部署时间 ≤ 2分钟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Kubernetes 滚动更新零停机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后端服务架构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基于 Go + Gin 构建的高性能微服务后端，采用经典分层架构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347472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onsolas"/>
              </a:defRPr>
            </a:pPr>
            <a:r>
              <a:t>// 请求处理链路</a:t>
            </a:r>
            <a:br/>
            <a:r>
              <a:t>Router → Middleware → Handler → Service → Model</a:t>
            </a:r>
            <a:br/>
            <a:br/>
            <a:r>
              <a:t>// 路由层 - API 定义与分组</a:t>
            </a:r>
            <a:br/>
            <a:r>
              <a:t>api := engine.Group("/api/v1")</a:t>
            </a:r>
            <a:br/>
            <a:r>
              <a:t>  ├── auth      → 登录 / 注册</a:t>
            </a:r>
            <a:br/>
            <a:r>
              <a:t>  ├── users     → 用户管理 (JWT Auth)</a:t>
            </a:r>
            <a:br/>
            <a:r>
              <a:t>  ├── pipelines → 流水线管理</a:t>
            </a:r>
            <a:br/>
            <a:r>
              <a:t>  ├── deployments → 部署管理</a:t>
            </a:r>
            <a:br/>
            <a:r>
              <a:t>  ├── images    → 镜像管理</a:t>
            </a:r>
            <a:br/>
            <a:r>
              <a:t>  ├── monitoring → 监控告警</a:t>
            </a:r>
            <a:br/>
            <a:r>
              <a:t>  ├── settings  → 系统配置</a:t>
            </a:r>
            <a:br/>
            <a:r>
              <a:t>  ├── dashboard → 数据看板</a:t>
            </a:r>
            <a:br/>
            <a:r>
              <a:t>  └── audit     → 审计日志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  <a:latin typeface="Consolas"/>
              </a:defRPr>
            </a:pPr>
            <a:r>
              <a:t>AuthService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JWT认证 · bcrypt加密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2860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FF"/>
                </a:solidFill>
                <a:latin typeface="Consolas"/>
              </a:defRPr>
            </a:pPr>
            <a:r>
              <a:t>PipelineService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流水线编排 · 执行引擎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2735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K8sService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84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集群管理 · 自动回滚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2004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2735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800"/>
                </a:solidFill>
                <a:latin typeface="Consolas"/>
              </a:defRPr>
            </a:pPr>
            <a:r>
              <a:t>BuildService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584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多阶段构建 · 缓存优化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87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onsolas"/>
              </a:defRPr>
            </a:pPr>
            <a:r>
              <a:t>HarborService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98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镜像仓库 · 漏洞扫描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1148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4187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366"/>
                </a:solidFill>
                <a:latin typeface="Consolas"/>
              </a:defRPr>
            </a:pPr>
            <a:r>
              <a:t>RBACService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498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角色权限 · 细粒度控制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102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  <a:latin typeface="Consolas"/>
              </a:defRPr>
            </a:pPr>
            <a:r>
              <a:t>GitService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4132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Webhook · 仓库集成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5029200"/>
            <a:ext cx="2651760" cy="777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5102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FF"/>
                </a:solidFill>
                <a:latin typeface="Consolas"/>
              </a:defRPr>
            </a:pPr>
            <a:r>
              <a:t>MonitoringService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4132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指标采集 · 告警规则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FF"/>
                </a:solidFill>
                <a:latin typeface="Microsoft YaHei"/>
              </a:defRPr>
            </a:pPr>
            <a:r>
              <a:t>🛡️ 中间件链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5943600"/>
            <a:ext cx="1188720" cy="32004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FFFF"/>
                </a:solidFill>
                <a:latin typeface="Consolas"/>
              </a:defRPr>
            </a:pPr>
            <a:r>
              <a:t>JWT Auth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5943600"/>
            <a:ext cx="1188720" cy="32004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FFFF"/>
                </a:solidFill>
                <a:latin typeface="Consolas"/>
              </a:defRPr>
            </a:pPr>
            <a:r>
              <a:t>CORS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5943600"/>
            <a:ext cx="1188720" cy="32004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FFFF"/>
                </a:solidFill>
                <a:latin typeface="Consolas"/>
              </a:defRPr>
            </a:pPr>
            <a:r>
              <a:t>Logger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5943600"/>
            <a:ext cx="1188720" cy="32004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FFFF"/>
                </a:solidFill>
                <a:latin typeface="Consolas"/>
              </a:defRPr>
            </a:pPr>
            <a:r>
              <a:t>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5943600"/>
            <a:ext cx="1188720" cy="32004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FFFF"/>
                </a:solidFill>
                <a:latin typeface="Consolas"/>
              </a:defRPr>
            </a:pPr>
            <a:r>
              <a:t>RateLimit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5943600"/>
            <a:ext cx="1188720" cy="32004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FFFF"/>
                </a:solidFill>
                <a:latin typeface="Consolas"/>
              </a:defRPr>
            </a:pPr>
            <a:r>
              <a:t>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前端控制台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React 18 + TypeScript 构建的现代化 Web 控制台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48640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486400" cy="411480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37744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377440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localhost:3000/dashboard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1463040" cy="82296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FF"/>
                </a:solidFill>
                <a:latin typeface="Microsoft YaHei"/>
              </a:defRPr>
            </a:pPr>
            <a:r>
              <a:t>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流水线总数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926080"/>
            <a:ext cx="1463040" cy="82296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971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  <a:latin typeface="Microsoft YaHei"/>
              </a:defRPr>
            </a:pPr>
            <a:r>
              <a:t>96.5%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构建成功率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926080"/>
            <a:ext cx="1463040" cy="82296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71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活跃部署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31920"/>
            <a:ext cx="5120640" cy="219456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0"/>
                </a:solidFill>
                <a:latin typeface="Microsoft YaHei"/>
              </a:defRPr>
            </a:pPr>
            <a:r>
              <a:t>最近构建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43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frontend-app #256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0"/>
                </a:solidFill>
                <a:latin typeface="Microsoft YaHei"/>
              </a:defRPr>
            </a:pPr>
            <a:r>
              <a:t>2m ago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54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backend-api #189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0"/>
                </a:solidFill>
                <a:latin typeface="Microsoft YaHei"/>
              </a:defRPr>
            </a:pPr>
            <a:r>
              <a:t>5m ago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166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366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auth-service #92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0"/>
                </a:solidFill>
                <a:latin typeface="Microsoft YaHei"/>
              </a:defRPr>
            </a:pPr>
            <a:r>
              <a:t>12m 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286000"/>
            <a:ext cx="4846320" cy="640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3591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331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Dashboard 仪表盘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606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系统概览、关键指标、实时状态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017520"/>
            <a:ext cx="4846320" cy="640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090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Pipelines 流水线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337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创建、编辑、触发、查看构建日志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3749040"/>
            <a:ext cx="4846320" cy="640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3822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Deployments 部署管理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069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多策略部署、回滚、Pod监控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4480560"/>
            <a:ext cx="4846320" cy="640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4553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FFF"/>
                </a:solidFill>
                <a:latin typeface="Microsoft YaHei"/>
              </a:defRPr>
            </a:pPr>
            <a:r>
              <a:t>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Images 镜像管理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800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镜像列表、构建、漏洞扫描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5212080"/>
            <a:ext cx="4846320" cy="640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52852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FFF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Monitoring 监控告警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532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实时指标、告警规则、通知配置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943600"/>
            <a:ext cx="4846320" cy="640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6016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FFF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Users 用户管理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6263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RBAC角色、权限分配、审计日志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PostgreSQL 数据库，GORM 自动迁移，完善的索引与约束设计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486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关键字段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486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Consolas"/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username, email, role,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81528"/>
            <a:ext cx="5486400" cy="384048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Consolas"/>
              </a:defRPr>
            </a:pPr>
            <a: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127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角色表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27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name, 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65576"/>
            <a:ext cx="5486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Consolas"/>
              </a:defRPr>
            </a:pPr>
            <a:r>
              <a:t>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511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权限表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11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resource,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9624"/>
            <a:ext cx="5486400" cy="384048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95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git_repositories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代码仓库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895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url, type, branch, webhook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33672"/>
            <a:ext cx="5486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pipelines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流水线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repo_id, config,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617720"/>
            <a:ext cx="5486400" cy="384048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builds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构建记录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pipeline_id, commit_hash, duration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01768"/>
            <a:ext cx="5486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47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deployments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0474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部署记录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47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namespace, image, strategy, env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385816"/>
            <a:ext cx="5486400" cy="384048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31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800"/>
                </a:solidFill>
                <a:latin typeface="Consolas"/>
              </a:defRPr>
            </a:pPr>
            <a:r>
              <a:t>audit_logs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审计日志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431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Consolas"/>
              </a:defRPr>
            </a:pPr>
            <a:r>
              <a:t>user_id, action, resource, ip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2286000"/>
            <a:ext cx="4846320" cy="256032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237744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onsolas"/>
              </a:defRPr>
            </a:pPr>
            <a:r>
              <a:t>// RBAC 权限模型</a:t>
            </a:r>
            <a:br/>
            <a:r>
              <a:t>Role ←(many2many)→ Permission</a:t>
            </a:r>
            <a:br/>
            <a:br/>
            <a:r>
              <a:t>// 四级角色体系</a:t>
            </a:r>
            <a:br/>
            <a:r>
              <a:t>┌──────────┬───────────────────────────┐</a:t>
            </a:r>
            <a:br/>
            <a:r>
              <a:t>│ admin    │ 全部权限                   │</a:t>
            </a:r>
            <a:br/>
            <a:r>
              <a:t>│ devops   │ 流水线+部署+仓库+监控       │</a:t>
            </a:r>
            <a:br/>
            <a:r>
              <a:t>│ developer│ 只读权限                   │</a:t>
            </a:r>
            <a:br/>
            <a:r>
              <a:t>│ viewer   │ 只读权限                   │</a:t>
            </a:r>
            <a:br/>
            <a:r>
              <a:t>└──────────┴───────────────────────────┘</a:t>
            </a:r>
            <a:br/>
            <a:br/>
            <a:r>
              <a:t>// 权限粒度: resource + action</a:t>
            </a:r>
            <a:br/>
            <a:r>
              <a:t>pipelines:create  pipelines:trigger</a:t>
            </a:r>
            <a:br/>
            <a:r>
              <a:t>deployments:execute  monitoring:update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Microsoft YaHei"/>
              </a:defRPr>
            </a:pPr>
            <a:r>
              <a:t>✓ 软删除 (deleted_at) 保护数据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Microsoft YaHei"/>
              </a:defRPr>
            </a:pPr>
            <a:r>
              <a:t>✓ 自动更新时间触发器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Microsoft YaHei"/>
              </a:defRPr>
            </a:pPr>
            <a:r>
              <a:t>✓ 枚举类型约束 (build_status, deployment_strategy)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Microsoft YaHei"/>
              </a:defRPr>
            </a:pPr>
            <a:r>
              <a:t>✓ 审计日志自动清理函数 (90天)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部署策略与 Kubernetes 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三种高级部署策略，保障零停机发布与快速故障恢复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47472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4747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🔄  滚动更新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Rolling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逐步替换旧版本 Pod</a:t>
            </a:r>
            <a:br/>
            <a:r>
              <a:t>配置 maxSurge / maxUnavailable</a:t>
            </a:r>
            <a:br/>
            <a:r>
              <a:t>就绪探针保障可用性</a:t>
            </a:r>
            <a:br/>
            <a:r>
              <a:t>可用性 ≥ 99.99%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286000"/>
            <a:ext cx="347472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286000"/>
            <a:ext cx="347472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Microsoft YaHei"/>
              </a:defRPr>
            </a:pPr>
            <a:r>
              <a:t>🐦  灰度发布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Canary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291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金丝雀发布策略</a:t>
            </a:r>
            <a:br/>
            <a:r>
              <a:t>流量权重 1% → 100%</a:t>
            </a:r>
            <a:br/>
            <a:r>
              <a:t>基于指标自动判断</a:t>
            </a:r>
            <a:br/>
            <a:r>
              <a:t>用户无感知切换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286000"/>
            <a:ext cx="347472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2286000"/>
            <a:ext cx="3474720" cy="50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FF"/>
                </a:solidFill>
                <a:latin typeface="Microsoft YaHei"/>
              </a:defRPr>
            </a:pPr>
            <a:r>
              <a:t>🔵🟢  蓝绿部署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Blue-Green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3291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两套完整环境切换</a:t>
            </a:r>
            <a:br/>
            <a:r>
              <a:t>零风险即时回滚</a:t>
            </a:r>
            <a:br/>
            <a:r>
              <a:t>切换流量即可完成</a:t>
            </a:r>
            <a:br/>
            <a:r>
              <a:t>回滚时间 ≤ 2分钟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5029200" cy="164592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onsolas"/>
              </a:defRPr>
            </a:pPr>
            <a:r>
              <a:t>// Kubernetes 部署架构</a:t>
            </a:r>
            <a:br/>
            <a:r>
              <a:t>├── Deployment   → 应用部署</a:t>
            </a:r>
            <a:br/>
            <a:r>
              <a:t>├── Service      → 服务暴露</a:t>
            </a:r>
            <a:br/>
            <a:r>
              <a:t>├── Ingress      → 流量路由</a:t>
            </a:r>
            <a:br/>
            <a:r>
              <a:t>├── HPA          → 弹性伸缩</a:t>
            </a:r>
            <a:br/>
            <a:r>
              <a:t>├── PDB          → Pod中断预算</a:t>
            </a:r>
            <a:br/>
            <a:r>
              <a:t>├── ConfigMap    → 配置管理</a:t>
            </a:r>
            <a:br/>
            <a:r>
              <a:t>├── Secret       → 密钥管理</a:t>
            </a:r>
            <a:br/>
            <a:r>
              <a:t>├── NetworkPolicy→ 网络隔离</a:t>
            </a:r>
            <a:br/>
            <a:r>
              <a:t>└── PVC          → 持久化存储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846320"/>
            <a:ext cx="5212080" cy="50292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873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多副本部署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023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前端/后端多副本 + PDB 保障最小可用实例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394960"/>
            <a:ext cx="5212080" cy="50292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422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自动回滚机制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509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监控指标异常 → 自动触发回滚 → 切换稳定版本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943600"/>
            <a:ext cx="5212080" cy="50292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971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网络策略隔离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199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默认拒绝入站 + 数据库/Redis 专用网络策略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监控告警体系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Prometheus + Grafana + AlertManager + ELK 全方位可观测性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0116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/>
            </a:pPr>
            <a:r>
              <a:t>📡</a:t>
            </a:r>
          </a:p>
          <a:p>
            <a:pPr algn="ctr">
              <a:defRPr sz="1100">
                <a:solidFill>
                  <a:srgbClr val="B0B0C0"/>
                </a:solidFill>
                <a:latin typeface="Microsoft YaHei"/>
              </a:defRPr>
            </a:pPr>
            <a:r>
              <a:t>Prometheus</a:t>
            </a:r>
            <a:br/>
            <a:r>
              <a:t>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286000"/>
            <a:ext cx="20116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/>
            </a:pPr>
            <a:r>
              <a:t>💾</a:t>
            </a:r>
          </a:p>
          <a:p>
            <a:pPr algn="ctr">
              <a:defRPr sz="1100">
                <a:solidFill>
                  <a:srgbClr val="B0B0C0"/>
                </a:solidFill>
                <a:latin typeface="Microsoft YaHei"/>
              </a:defRPr>
            </a:pPr>
            <a:r>
              <a:t>时序数据</a:t>
            </a:r>
            <a:br/>
            <a:r>
              <a:t>存储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286000"/>
            <a:ext cx="20116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/>
            </a:pPr>
            <a:r>
              <a:t>📊</a:t>
            </a:r>
          </a:p>
          <a:p>
            <a:pPr algn="ctr">
              <a:defRPr sz="1100">
                <a:solidFill>
                  <a:srgbClr val="B0B0C0"/>
                </a:solidFill>
                <a:latin typeface="Microsoft YaHei"/>
              </a:defRPr>
            </a:pPr>
            <a:r>
              <a:t>Grafana</a:t>
            </a:r>
            <a:br/>
            <a:r>
              <a:t>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286000"/>
            <a:ext cx="20116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/>
            </a:pPr>
            <a:r>
              <a:t>🔔</a:t>
            </a:r>
          </a:p>
          <a:p>
            <a:pPr algn="ctr">
              <a:defRPr sz="1100">
                <a:solidFill>
                  <a:srgbClr val="B0B0C0"/>
                </a:solidFill>
                <a:latin typeface="Microsoft YaHei"/>
              </a:defRPr>
            </a:pPr>
            <a:r>
              <a:t>AlertManager</a:t>
            </a:r>
            <a:br/>
            <a:r>
              <a:t>告警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02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FF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FF"/>
                </a:solidFill>
                <a:latin typeface="Microsoft YaHei"/>
              </a:defRPr>
            </a:pPr>
            <a:r>
              <a:t>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02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FF"/>
                </a:solidFill>
                <a:latin typeface="Microsoft YaHei"/>
              </a:defRPr>
            </a:pPr>
            <a:r>
              <a:t>级别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029200" cy="347472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67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867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CPU &gt; 80% / 内存 &gt; 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877056"/>
            <a:ext cx="457200" cy="256032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3366"/>
                </a:solidFill>
                <a:latin typeface="Consolas"/>
              </a:defRPr>
            </a:pPr>
            <a:r>
              <a:t>P0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87952"/>
            <a:ext cx="5029200" cy="347472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153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Pod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153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CrashLoopBackOff /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224528"/>
            <a:ext cx="457200" cy="256032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3366"/>
                </a:solidFill>
                <a:latin typeface="Consolas"/>
              </a:defRPr>
            </a:pPr>
            <a:r>
              <a:t>P0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35424"/>
            <a:ext cx="5029200" cy="347472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628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562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错误率 &gt; 5% / 响应 &gt; 2s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572000"/>
            <a:ext cx="457200" cy="256032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8800"/>
                </a:solidFill>
                <a:latin typeface="Consolas"/>
              </a:defRPr>
            </a:pPr>
            <a:r>
              <a:t>P1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82896"/>
            <a:ext cx="5029200" cy="347472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10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资源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910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磁盘 &gt; 90% / PVC 即将满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919472"/>
            <a:ext cx="457200" cy="256032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8800"/>
                </a:solidFill>
                <a:latin typeface="Consolas"/>
              </a:defRPr>
            </a:pPr>
            <a:r>
              <a:t>P1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30368"/>
            <a:ext cx="5029200" cy="347472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57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业务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部署失败 / 构建超时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5266944"/>
            <a:ext cx="457200" cy="256032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855F7"/>
                </a:solidFill>
                <a:latin typeface="Consolas"/>
              </a:defRPr>
            </a:pPr>
            <a:r>
              <a:t>P2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474720"/>
            <a:ext cx="5212080" cy="685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5478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FFFF"/>
                </a:solidFill>
                <a:latin typeface="Microsoft YaHei"/>
              </a:defRPr>
            </a:pPr>
            <a:r>
              <a:t>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邮件通知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822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SMTP 邮件告警，支持自定义模板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251960"/>
            <a:ext cx="5212080" cy="685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325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钉钉机器人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599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Webhook 推送，实时告警到群组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029200"/>
            <a:ext cx="5212080" cy="685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102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FFFF"/>
                </a:solidFill>
                <a:latin typeface="Microsoft YaHei"/>
              </a:defRPr>
            </a:pPr>
            <a:r>
              <a:t>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企业微信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376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企业微信应用消息推送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852160"/>
            <a:ext cx="5212080" cy="73152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897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onsolas"/>
              </a:defRPr>
            </a:pPr>
            <a:r>
              <a:t>📋 ELK 日志: Application → Fluent Bit → Elasticsearch → Kibana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217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80"/>
                </a:solidFill>
                <a:latin typeface="Microsoft YaHei"/>
              </a:defRPr>
            </a:pPr>
            <a:r>
              <a:t>结构化JSON · ILM生命周期 · 日志90天 · 审计365天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安全设计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多层次安全防护，从传输加密到审计追踪的全方位安全体系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164592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66FF"/>
                </a:solidFill>
                <a:latin typeface="Microsoft YaHei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  <a:latin typeface="Microsoft YaHei"/>
              </a:defRPr>
            </a:pPr>
            <a:r>
              <a:t>身份认证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JWT Token</a:t>
            </a:r>
            <a:br/>
            <a:r>
              <a:t>bcrypt 密码加密</a:t>
            </a:r>
            <a:br/>
            <a:r>
              <a:t>登录限流保护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86000"/>
            <a:ext cx="2560320" cy="164592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855F7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Microsoft YaHei"/>
              </a:defRPr>
            </a:pPr>
            <a:r>
              <a:t>权限控制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RBAC 角色模型</a:t>
            </a:r>
            <a:br/>
            <a:r>
              <a:t>细粒度权限</a:t>
            </a:r>
            <a:br/>
            <a:r>
              <a:t>最小权限原则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560320" cy="164592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FF88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Microsoft YaHei"/>
              </a:defRPr>
            </a:pPr>
            <a:r>
              <a:t>传输加密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TLS 1.3</a:t>
            </a:r>
            <a:br/>
            <a:r>
              <a:t>HTTPS 全链路</a:t>
            </a:r>
            <a:br/>
            <a:r>
              <a:t>AES-256 存储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286000"/>
            <a:ext cx="2560320" cy="1645920"/>
          </a:xfrm>
          <a:prstGeom prst="round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8800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800"/>
                </a:solidFill>
                <a:latin typeface="Microsoft YaHei"/>
              </a:defRPr>
            </a:pPr>
            <a:r>
              <a:t>镜像安全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Trivy 漏洞扫描</a:t>
            </a:r>
            <a:br/>
            <a:r>
              <a:t>高危阻断策略</a:t>
            </a:r>
            <a:br/>
            <a:r>
              <a:t>Harbor 访问控制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5029200" cy="228600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onsolas"/>
              </a:defRPr>
            </a:pPr>
            <a:r>
              <a:t>// Kubernetes NetworkPolicy</a:t>
            </a:r>
            <a:br/>
            <a:br/>
            <a:r>
              <a:t>// 默认拒绝所有入站</a:t>
            </a:r>
            <a:br/>
            <a:r>
              <a:t>default-deny → 拒绝所有入站流量</a:t>
            </a:r>
            <a:br/>
            <a:br/>
            <a:r>
              <a:t>// 数据库专用策略</a:t>
            </a:r>
            <a:br/>
            <a:r>
              <a:t>allow-database → 仅允许后端服务访问</a:t>
            </a:r>
            <a:br/>
            <a:br/>
            <a:r>
              <a:t>// Redis 专用策略</a:t>
            </a:r>
            <a:br/>
            <a:r>
              <a:t>allow-redis → 仅允许后端服务访问</a:t>
            </a:r>
            <a:br/>
            <a:br/>
            <a:r>
              <a:t>// Ingress 控制</a:t>
            </a:r>
            <a:br/>
            <a:r>
              <a:t>Nginx Ingress → 限制外部访问入口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212080" cy="2286000"/>
          </a:xfrm>
          <a:prstGeom prst="roundRect">
            <a:avLst/>
          </a:prstGeom>
          <a:solidFill>
            <a:srgbClr val="080810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onsolas"/>
              </a:defRPr>
            </a:pPr>
            <a:r>
              <a:t>// 审计日志记录内容</a:t>
            </a:r>
            <a:br/>
            <a:r>
              <a:t>{</a:t>
            </a:r>
            <a:br/>
            <a:r>
              <a:t>  "user_id":   uint,</a:t>
            </a:r>
            <a:br/>
            <a:r>
              <a:t>  "username":  string,</a:t>
            </a:r>
            <a:br/>
            <a:r>
              <a:t>  "action":    string,    // 操作类型</a:t>
            </a:r>
            <a:br/>
            <a:r>
              <a:t>  "resource":  string,    // 操作资源</a:t>
            </a:r>
            <a:br/>
            <a:r>
              <a:t>  "method":    string,    // HTTP方法</a:t>
            </a:r>
            <a:br/>
            <a:r>
              <a:t>  "path":      string,    // 请求路径</a:t>
            </a:r>
            <a:br/>
            <a:r>
              <a:t>  "ip":        string,    // 来源IP</a:t>
            </a:r>
            <a:br/>
            <a:r>
              <a:t>  "status":    int        // 响应状态</a:t>
            </a:r>
            <a:br/>
            <a:r>
              <a:t>}</a:t>
            </a:r>
            <a:br/>
            <a:br/>
            <a:r>
              <a:t>// 自动清理: 保留90天</a:t>
            </a:r>
            <a:br/>
            <a:r>
              <a:t>cleanup_old_audit_logs(90)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80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822960"/>
            <a:ext cx="2103120" cy="50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2743200" cy="10972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2743200" cy="381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  <a:latin typeface="Microsoft YaHei"/>
              </a:defRPr>
            </a:pPr>
            <a:r>
              <a:t>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核心服务模块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2743200" cy="10972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27432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55F7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API 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828800"/>
            <a:ext cx="2743200" cy="10972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274320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部署策略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FF"/>
                </a:solidFill>
                <a:latin typeface="Microsoft YaHei"/>
              </a:defRPr>
            </a:pPr>
            <a:r>
              <a:t>🎯 项目亮点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✦  完整的 CI/CD 全流程自动化闭环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✦  云原生架构，K8s 弹性伸缩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✦  多策略部署 + 自动回滚保障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✦  全方位监控告警与日志体系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✦  RBAC + 审计日志安全体系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✦  现代化 React 前端控制台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FF"/>
                </a:solidFill>
                <a:latin typeface="Microsoft YaHei"/>
              </a:defRPr>
            </a:pPr>
            <a:r>
              <a:t>🚀 未来展望</a:t>
            </a:r>
          </a:p>
        </p:txBody>
      </p:sp>
      <p:sp>
        <p:nvSpPr>
          <p:cNvPr id="25" name="Oval 24"/>
          <p:cNvSpPr/>
          <p:nvPr/>
        </p:nvSpPr>
        <p:spPr>
          <a:xfrm>
            <a:off x="1554480" y="5376672"/>
            <a:ext cx="137160" cy="13716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5513832"/>
            <a:ext cx="25400" cy="3200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阶段一 (已完成)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基础设施搭建 · 后端核心服务 · 前端控制台 · 认证权限体系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5833872"/>
            <a:ext cx="137160" cy="13716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00200" y="5971032"/>
            <a:ext cx="25400" cy="3200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阶段二 (进行中)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760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灰度发布完善 · 镜像漏洞扫描集成 · 多集群管理 · 插件系统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6291072"/>
            <a:ext cx="137160" cy="13716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6217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FF"/>
                </a:solidFill>
                <a:latin typeface="Microsoft YaHei"/>
              </a:defRPr>
            </a:pPr>
            <a:r>
              <a:t>阶段三 (规划中)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多云/混合云部署 · GitOps (ArgoCD) · AI 智能运维 · 服务网格 (Istio)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0"/>
                </a:solidFill>
                <a:latin typeface="Microsoft YaHei"/>
              </a:defRPr>
            </a:pPr>
            <a:r>
              <a:t>感谢聆听  |  云原生容器化 CI/CD 自动化部署系统  |  代码即部署，部署即生效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